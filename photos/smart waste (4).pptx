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4" r:id="rId2"/>
    <p:sldId id="266" r:id="rId3"/>
    <p:sldId id="267" r:id="rId4"/>
    <p:sldId id="268" r:id="rId5"/>
    <p:sldId id="269" r:id="rId6"/>
    <p:sldId id="270" r:id="rId7"/>
    <p:sldId id="271" r:id="rId8"/>
    <p:sldId id="27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4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10/4/2025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0643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10/4/2025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87349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10/4/2025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029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10/4/2025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65241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10/4/2025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61729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10/4/2025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97702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10/4/2025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84245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10/4/2025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75739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10/4/2025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946887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55947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10/4/2025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03437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800">
                <a:solidFill>
                  <a:schemeClr val="tx1">
                    <a:lumMod val="75000"/>
                    <a:lumOff val="25000"/>
                  </a:schemeClr>
                </a:solidFill>
              </a:defRPr>
            </a:lvl1pPr>
          </a:lstStyle>
          <a:p>
            <a:fld id="{ED291B17-9318-49DB-B28B-6E5994AE9581}" type="datetime1">
              <a:rPr lang="en-US" smtClean="0"/>
              <a:t>10/4/2025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8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8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7469482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457200" rtl="0" eaLnBrk="1" latinLnBrk="0" hangingPunct="1">
        <a:lnSpc>
          <a:spcPct val="90000"/>
        </a:lnSpc>
        <a:spcBef>
          <a:spcPct val="0"/>
        </a:spcBef>
        <a:buNone/>
        <a:defRPr sz="27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20000"/>
        </a:lnSpc>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1pPr>
      <a:lvl2pPr marL="630000" indent="-306000" algn="l" defTabSz="457200" rtl="0" eaLnBrk="1" latinLnBrk="0" hangingPunct="1">
        <a:lnSpc>
          <a:spcPct val="120000"/>
        </a:lnSpc>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lnSpc>
          <a:spcPct val="12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3pPr>
      <a:lvl4pPr marL="1242000" indent="-234000" algn="l" defTabSz="457200" rtl="0" eaLnBrk="1" latinLnBrk="0" hangingPunct="1">
        <a:lnSpc>
          <a:spcPct val="120000"/>
        </a:lnSpc>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lnSpc>
          <a:spcPct val="120000"/>
        </a:lnSpc>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B4480E-B7FF-4481-890E-043A69AE6F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C952F9C-666D-5EA7-F953-BB7A1D443487}"/>
              </a:ext>
            </a:extLst>
          </p:cNvPr>
          <p:cNvPicPr>
            <a:picLocks noChangeAspect="1"/>
          </p:cNvPicPr>
          <p:nvPr/>
        </p:nvPicPr>
        <p:blipFill>
          <a:blip r:embed="rId2"/>
          <a:srcRect t="19465" r="9085" b="4309"/>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64C13BAB-7C00-4D21-A857-E3D41C0A2A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068"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1F1FF39A-AC3C-4066-9D4C-519AA22812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068" y="601201"/>
            <a:ext cx="3702134" cy="5791132"/>
          </a:xfrm>
          <a:prstGeom prst="rect">
            <a:avLst/>
          </a:prstGeom>
          <a:solidFill>
            <a:srgbClr val="465359">
              <a:alpha val="97000"/>
            </a:srgb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cNvSpPr>
            <a:spLocks noGrp="1"/>
          </p:cNvSpPr>
          <p:nvPr>
            <p:ph type="ctrTitle"/>
          </p:nvPr>
        </p:nvSpPr>
        <p:spPr>
          <a:xfrm>
            <a:off x="685801" y="1524001"/>
            <a:ext cx="3208866" cy="3478384"/>
          </a:xfrm>
        </p:spPr>
        <p:txBody>
          <a:bodyPr>
            <a:normAutofit/>
          </a:bodyPr>
          <a:lstStyle/>
          <a:p>
            <a:r>
              <a:rPr lang="en-GB" dirty="0">
                <a:solidFill>
                  <a:srgbClr val="FFFFFF"/>
                </a:solidFill>
              </a:rPr>
              <a:t>Smart waste </a:t>
            </a:r>
          </a:p>
        </p:txBody>
      </p:sp>
      <p:sp>
        <p:nvSpPr>
          <p:cNvPr id="4" name="TextBox 3">
            <a:extLst>
              <a:ext uri="{FF2B5EF4-FFF2-40B4-BE49-F238E27FC236}">
                <a16:creationId xmlns:a16="http://schemas.microsoft.com/office/drawing/2014/main" id="{E2C52778-0146-241D-6B4B-053419AF93A4}"/>
              </a:ext>
            </a:extLst>
          </p:cNvPr>
          <p:cNvSpPr txBox="1"/>
          <p:nvPr/>
        </p:nvSpPr>
        <p:spPr>
          <a:xfrm>
            <a:off x="2065867" y="5333999"/>
            <a:ext cx="1828800" cy="646331"/>
          </a:xfrm>
          <a:prstGeom prst="rect">
            <a:avLst/>
          </a:prstGeom>
          <a:noFill/>
        </p:spPr>
        <p:txBody>
          <a:bodyPr wrap="square" rtlCol="0">
            <a:spAutoFit/>
          </a:bodyPr>
          <a:lstStyle/>
          <a:p>
            <a:pPr algn="l"/>
            <a:r>
              <a:rPr lang="en-GB" b="1" dirty="0" err="1">
                <a:solidFill>
                  <a:schemeClr val="bg2"/>
                </a:solidFill>
              </a:rPr>
              <a:t>Omkar</a:t>
            </a:r>
            <a:r>
              <a:rPr lang="en-GB" b="1" dirty="0">
                <a:solidFill>
                  <a:schemeClr val="bg2"/>
                </a:solidFill>
              </a:rPr>
              <a:t> </a:t>
            </a:r>
            <a:r>
              <a:rPr lang="en-GB" b="1" dirty="0" err="1">
                <a:solidFill>
                  <a:schemeClr val="bg2"/>
                </a:solidFill>
              </a:rPr>
              <a:t>sawant</a:t>
            </a:r>
            <a:endParaRPr lang="en-GB" b="1" dirty="0">
              <a:solidFill>
                <a:schemeClr val="bg2"/>
              </a:solidFill>
            </a:endParaRPr>
          </a:p>
          <a:p>
            <a:pPr algn="l"/>
            <a:r>
              <a:rPr lang="en-GB" b="1" dirty="0" err="1">
                <a:solidFill>
                  <a:schemeClr val="bg2"/>
                </a:solidFill>
              </a:rPr>
              <a:t>Sarang</a:t>
            </a:r>
            <a:r>
              <a:rPr lang="en-GB" b="1" dirty="0">
                <a:solidFill>
                  <a:schemeClr val="bg2"/>
                </a:solidFill>
              </a:rPr>
              <a:t> </a:t>
            </a:r>
            <a:r>
              <a:rPr lang="en-GB" b="1" dirty="0" err="1">
                <a:solidFill>
                  <a:schemeClr val="bg2"/>
                </a:solidFill>
              </a:rPr>
              <a:t>shinde</a:t>
            </a:r>
            <a:endParaRPr lang="en-US" b="1" dirty="0">
              <a:solidFill>
                <a:schemeClr val="bg2"/>
              </a:solidFill>
            </a:endParaRPr>
          </a:p>
        </p:txBody>
      </p:sp>
    </p:spTree>
    <p:extLst>
      <p:ext uri="{BB962C8B-B14F-4D97-AF65-F5344CB8AC3E}">
        <p14:creationId xmlns:p14="http://schemas.microsoft.com/office/powerpoint/2010/main" val="4079957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04BED40-EAF7-4E55-AFF7-2CD840EBD3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446534" y="999201"/>
            <a:ext cx="6309003" cy="1013800"/>
          </a:xfrm>
        </p:spPr>
        <p:txBody>
          <a:bodyPr>
            <a:normAutofit/>
          </a:bodyPr>
          <a:lstStyle/>
          <a:p>
            <a:r>
              <a:rPr lang="en-GB">
                <a:solidFill>
                  <a:schemeClr val="tx2"/>
                </a:solidFill>
              </a:rPr>
              <a:t>Introduction </a:t>
            </a:r>
          </a:p>
        </p:txBody>
      </p:sp>
      <p:sp>
        <p:nvSpPr>
          <p:cNvPr id="12" name="Rectangle 11">
            <a:extLst>
              <a:ext uri="{FF2B5EF4-FFF2-40B4-BE49-F238E27FC236}">
                <a16:creationId xmlns:a16="http://schemas.microsoft.com/office/drawing/2014/main" id="{F367CCF1-BB1E-41CF-8499-94A870C33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66751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p:cNvSpPr>
            <a:spLocks noGrp="1"/>
          </p:cNvSpPr>
          <p:nvPr>
            <p:ph idx="1"/>
          </p:nvPr>
        </p:nvSpPr>
        <p:spPr>
          <a:xfrm>
            <a:off x="266869" y="1506101"/>
            <a:ext cx="6309003" cy="3962266"/>
          </a:xfrm>
        </p:spPr>
        <p:txBody>
          <a:bodyPr>
            <a:normAutofit/>
          </a:bodyPr>
          <a:lstStyle/>
          <a:p>
            <a:r>
              <a:rPr lang="en-GB" dirty="0"/>
              <a:t>1.The smart waste is project created out of concern about environmental issues arising due to lack of proper waste management.</a:t>
            </a:r>
          </a:p>
          <a:p>
            <a:r>
              <a:rPr lang="en-GB" dirty="0"/>
              <a:t>2.And smart waste is small yet ambitious solution that we try to implement into society, to help manage waste and keep our life healthy.</a:t>
            </a:r>
            <a:endParaRPr lang="en-GB" dirty="0">
              <a:solidFill>
                <a:schemeClr val="tx2"/>
              </a:solidFill>
            </a:endParaRPr>
          </a:p>
        </p:txBody>
      </p:sp>
      <p:pic>
        <p:nvPicPr>
          <p:cNvPr id="4" name="Picture 3">
            <a:extLst>
              <a:ext uri="{FF2B5EF4-FFF2-40B4-BE49-F238E27FC236}">
                <a16:creationId xmlns:a16="http://schemas.microsoft.com/office/drawing/2014/main" id="{9DDE7B6C-2503-04CB-52E9-C21B478DCC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17923" y="334483"/>
            <a:ext cx="4274077" cy="6523517"/>
          </a:xfrm>
          <a:prstGeom prst="rect">
            <a:avLst/>
          </a:prstGeom>
        </p:spPr>
      </p:pic>
    </p:spTree>
    <p:extLst>
      <p:ext uri="{BB962C8B-B14F-4D97-AF65-F5344CB8AC3E}">
        <p14:creationId xmlns:p14="http://schemas.microsoft.com/office/powerpoint/2010/main" val="2754252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04BED40-EAF7-4E55-AFF7-2CD840EBD3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581193" y="702156"/>
            <a:ext cx="6309003" cy="1013800"/>
          </a:xfrm>
        </p:spPr>
        <p:txBody>
          <a:bodyPr>
            <a:normAutofit/>
          </a:bodyPr>
          <a:lstStyle/>
          <a:p>
            <a:r>
              <a:rPr lang="en-GB">
                <a:solidFill>
                  <a:schemeClr val="tx2"/>
                </a:solidFill>
              </a:rPr>
              <a:t>The problem </a:t>
            </a:r>
          </a:p>
        </p:txBody>
      </p:sp>
      <p:sp>
        <p:nvSpPr>
          <p:cNvPr id="12" name="Rectangle 11">
            <a:extLst>
              <a:ext uri="{FF2B5EF4-FFF2-40B4-BE49-F238E27FC236}">
                <a16:creationId xmlns:a16="http://schemas.microsoft.com/office/drawing/2014/main" id="{F367CCF1-BB1E-41CF-8499-94A870C33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66751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p:cNvSpPr>
            <a:spLocks noGrp="1"/>
          </p:cNvSpPr>
          <p:nvPr>
            <p:ph idx="1"/>
          </p:nvPr>
        </p:nvSpPr>
        <p:spPr>
          <a:xfrm>
            <a:off x="509272" y="2498115"/>
            <a:ext cx="6309003" cy="2126448"/>
          </a:xfrm>
        </p:spPr>
        <p:txBody>
          <a:bodyPr>
            <a:normAutofit fontScale="55000" lnSpcReduction="20000"/>
          </a:bodyPr>
          <a:lstStyle/>
          <a:p>
            <a:r>
              <a:rPr lang="en-GB" dirty="0"/>
              <a:t>India  ranks first globally as the largest emitter of plastic pollution , realising approximately 9.3 million tonnes of plastics waste annually.</a:t>
            </a:r>
          </a:p>
          <a:p>
            <a:r>
              <a:rPr lang="en-GB" dirty="0"/>
              <a:t>Today these in various health problems like asthma , cancer,  various digestive problems, Chorela,typhoid,hepatic B/C etc. are either cause due to waste or are related to the waste pollution directly or indirectly.</a:t>
            </a:r>
          </a:p>
          <a:p>
            <a:r>
              <a:rPr lang="en-GB" dirty="0"/>
              <a:t>Poor waste management lead to poor quality of lifestyles.</a:t>
            </a:r>
          </a:p>
          <a:p>
            <a:r>
              <a:rPr lang="en-GB" dirty="0"/>
              <a:t>Physical waste not only pollute things by land contamination, but is directly related to increase in water and air pollution .</a:t>
            </a:r>
          </a:p>
          <a:p>
            <a:r>
              <a:rPr lang="en-GB" dirty="0"/>
              <a:t>And the all these problem arise when we do not mange waste property  ,and some responsibilities for that must be due to lack of incompatibility of governing body and lazy and non- discipline citizens of country.</a:t>
            </a:r>
          </a:p>
          <a:p>
            <a:r>
              <a:rPr lang="en-GB" dirty="0"/>
              <a:t>The mismatch of timing of garbage collecting truck lead to increase in waste piles in environment, so  the citizens not knowing when to dispose garbage must be avoid.</a:t>
            </a:r>
          </a:p>
        </p:txBody>
      </p:sp>
      <p:pic>
        <p:nvPicPr>
          <p:cNvPr id="6" name="Picture 5" descr="A grey room full of question marks with an opening going out">
            <a:extLst>
              <a:ext uri="{FF2B5EF4-FFF2-40B4-BE49-F238E27FC236}">
                <a16:creationId xmlns:a16="http://schemas.microsoft.com/office/drawing/2014/main" id="{84E1E18C-76AB-A870-90C4-2EB6041E37C0}"/>
              </a:ext>
            </a:extLst>
          </p:cNvPr>
          <p:cNvPicPr>
            <a:picLocks noChangeAspect="1"/>
          </p:cNvPicPr>
          <p:nvPr/>
        </p:nvPicPr>
        <p:blipFill>
          <a:blip r:embed="rId2"/>
          <a:srcRect l="29651" r="24954" b="-3"/>
          <a:stretch>
            <a:fillRect/>
          </a:stretch>
        </p:blipFill>
        <p:spPr>
          <a:xfrm>
            <a:off x="7521283" y="10"/>
            <a:ext cx="4670717" cy="6857990"/>
          </a:xfrm>
          <a:prstGeom prst="rect">
            <a:avLst/>
          </a:prstGeom>
        </p:spPr>
      </p:pic>
    </p:spTree>
    <p:extLst>
      <p:ext uri="{BB962C8B-B14F-4D97-AF65-F5344CB8AC3E}">
        <p14:creationId xmlns:p14="http://schemas.microsoft.com/office/powerpoint/2010/main" val="2953135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04BED40-EAF7-4E55-AFF7-2CD840EBD3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581193" y="702156"/>
            <a:ext cx="6309003" cy="1013800"/>
          </a:xfrm>
        </p:spPr>
        <p:txBody>
          <a:bodyPr>
            <a:normAutofit/>
          </a:bodyPr>
          <a:lstStyle/>
          <a:p>
            <a:r>
              <a:rPr lang="en-GB">
                <a:solidFill>
                  <a:schemeClr val="tx2"/>
                </a:solidFill>
              </a:rPr>
              <a:t>Intentions </a:t>
            </a:r>
          </a:p>
        </p:txBody>
      </p:sp>
      <p:sp>
        <p:nvSpPr>
          <p:cNvPr id="12" name="Rectangle 11">
            <a:extLst>
              <a:ext uri="{FF2B5EF4-FFF2-40B4-BE49-F238E27FC236}">
                <a16:creationId xmlns:a16="http://schemas.microsoft.com/office/drawing/2014/main" id="{F367CCF1-BB1E-41CF-8499-94A870C33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66751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p:cNvSpPr>
            <a:spLocks noGrp="1"/>
          </p:cNvSpPr>
          <p:nvPr>
            <p:ph idx="1"/>
          </p:nvPr>
        </p:nvSpPr>
        <p:spPr>
          <a:xfrm>
            <a:off x="581194" y="1896533"/>
            <a:ext cx="6309003" cy="3962266"/>
          </a:xfrm>
        </p:spPr>
        <p:txBody>
          <a:bodyPr>
            <a:normAutofit/>
          </a:bodyPr>
          <a:lstStyle/>
          <a:p>
            <a:r>
              <a:rPr lang="en-GB" dirty="0">
                <a:solidFill>
                  <a:schemeClr val="tx2"/>
                </a:solidFill>
              </a:rPr>
              <a:t>So our intention through this project is to help society manage waste , ultimately improving there standards of living, by providing convenient options to handle waste .</a:t>
            </a:r>
          </a:p>
          <a:p>
            <a:r>
              <a:rPr lang="en-GB" dirty="0">
                <a:solidFill>
                  <a:schemeClr val="tx2"/>
                </a:solidFill>
              </a:rPr>
              <a:t>In Today’s era of technology we should try to find solutions of these traditional problems with new and technological solutions that’s why we  invented smart waste .</a:t>
            </a:r>
          </a:p>
          <a:p>
            <a:r>
              <a:rPr lang="en-GB" dirty="0">
                <a:solidFill>
                  <a:schemeClr val="tx2"/>
                </a:solidFill>
              </a:rPr>
              <a:t>To reduce waste piles so the adverse effects of waste on environment to reduce soil </a:t>
            </a:r>
            <a:r>
              <a:rPr lang="en-GB" dirty="0" err="1">
                <a:solidFill>
                  <a:schemeClr val="tx2"/>
                </a:solidFill>
              </a:rPr>
              <a:t>pollution,water</a:t>
            </a:r>
            <a:r>
              <a:rPr lang="en-GB" dirty="0">
                <a:solidFill>
                  <a:schemeClr val="tx2"/>
                </a:solidFill>
              </a:rPr>
              <a:t> </a:t>
            </a:r>
            <a:r>
              <a:rPr lang="en-GB" dirty="0" err="1">
                <a:solidFill>
                  <a:schemeClr val="tx2"/>
                </a:solidFill>
              </a:rPr>
              <a:t>pollution,air</a:t>
            </a:r>
            <a:r>
              <a:rPr lang="en-GB" dirty="0">
                <a:solidFill>
                  <a:schemeClr val="tx2"/>
                </a:solidFill>
              </a:rPr>
              <a:t> pollution, improve standard.</a:t>
            </a:r>
          </a:p>
        </p:txBody>
      </p:sp>
      <p:pic>
        <p:nvPicPr>
          <p:cNvPr id="6" name="Picture 5" descr="Person walking up a stairs">
            <a:extLst>
              <a:ext uri="{FF2B5EF4-FFF2-40B4-BE49-F238E27FC236}">
                <a16:creationId xmlns:a16="http://schemas.microsoft.com/office/drawing/2014/main" id="{42B3943B-123D-3E27-6081-9FDAE61F1B31}"/>
              </a:ext>
            </a:extLst>
          </p:cNvPr>
          <p:cNvPicPr>
            <a:picLocks noChangeAspect="1"/>
          </p:cNvPicPr>
          <p:nvPr/>
        </p:nvPicPr>
        <p:blipFill>
          <a:blip r:embed="rId2"/>
          <a:srcRect l="36275" r="18330" b="-3"/>
          <a:stretch>
            <a:fillRect/>
          </a:stretch>
        </p:blipFill>
        <p:spPr>
          <a:xfrm>
            <a:off x="7521283" y="10"/>
            <a:ext cx="4670717" cy="6857990"/>
          </a:xfrm>
          <a:prstGeom prst="rect">
            <a:avLst/>
          </a:prstGeom>
        </p:spPr>
      </p:pic>
    </p:spTree>
    <p:extLst>
      <p:ext uri="{BB962C8B-B14F-4D97-AF65-F5344CB8AC3E}">
        <p14:creationId xmlns:p14="http://schemas.microsoft.com/office/powerpoint/2010/main" val="2133793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04BED40-EAF7-4E55-AFF7-2CD840EBD3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581193" y="702156"/>
            <a:ext cx="6309003" cy="1013800"/>
          </a:xfrm>
        </p:spPr>
        <p:txBody>
          <a:bodyPr>
            <a:normAutofit/>
          </a:bodyPr>
          <a:lstStyle/>
          <a:p>
            <a:r>
              <a:rPr lang="en-GB" dirty="0">
                <a:solidFill>
                  <a:schemeClr val="tx2"/>
                </a:solidFill>
              </a:rPr>
              <a:t>Invention </a:t>
            </a:r>
          </a:p>
        </p:txBody>
      </p:sp>
      <p:sp>
        <p:nvSpPr>
          <p:cNvPr id="12" name="Rectangle 11">
            <a:extLst>
              <a:ext uri="{FF2B5EF4-FFF2-40B4-BE49-F238E27FC236}">
                <a16:creationId xmlns:a16="http://schemas.microsoft.com/office/drawing/2014/main" id="{F367CCF1-BB1E-41CF-8499-94A870C33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66751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p:cNvSpPr>
            <a:spLocks noGrp="1"/>
          </p:cNvSpPr>
          <p:nvPr>
            <p:ph idx="1"/>
          </p:nvPr>
        </p:nvSpPr>
        <p:spPr>
          <a:xfrm>
            <a:off x="581194" y="1896533"/>
            <a:ext cx="6309003" cy="3962266"/>
          </a:xfrm>
        </p:spPr>
        <p:txBody>
          <a:bodyPr>
            <a:normAutofit/>
          </a:bodyPr>
          <a:lstStyle/>
          <a:p>
            <a:r>
              <a:rPr lang="en-GB" dirty="0">
                <a:solidFill>
                  <a:schemeClr val="tx2"/>
                </a:solidFill>
              </a:rPr>
              <a:t>The smart waste is made in digital platforms , we have invented this project to bring convenience in garbage collecting system with providing detail time schedule with delay and tracking of garbage collecting vehicle ,with exact locations of these vehicles.</a:t>
            </a:r>
          </a:p>
          <a:p>
            <a:r>
              <a:rPr lang="en-GB" dirty="0">
                <a:solidFill>
                  <a:schemeClr val="tx2"/>
                </a:solidFill>
              </a:rPr>
              <a:t>It also provide cleaning solution to generals citizens as we tend to create platform that can be intermediate between workers and citizens, which will create employment and give citizens solid option to manage waste .(It can include government institute, public places, hotels, </a:t>
            </a:r>
            <a:r>
              <a:rPr lang="en-GB" dirty="0" err="1">
                <a:solidFill>
                  <a:schemeClr val="tx2"/>
                </a:solidFill>
              </a:rPr>
              <a:t>hospitals,or</a:t>
            </a:r>
            <a:r>
              <a:rPr lang="en-GB" dirty="0">
                <a:solidFill>
                  <a:schemeClr val="tx2"/>
                </a:solidFill>
              </a:rPr>
              <a:t> even private sector institutions or private household.)</a:t>
            </a:r>
          </a:p>
        </p:txBody>
      </p:sp>
      <p:pic>
        <p:nvPicPr>
          <p:cNvPr id="6" name="Picture 5" descr="A yellow puzzle piece completing a black puzzle">
            <a:extLst>
              <a:ext uri="{FF2B5EF4-FFF2-40B4-BE49-F238E27FC236}">
                <a16:creationId xmlns:a16="http://schemas.microsoft.com/office/drawing/2014/main" id="{25606899-F505-AB35-39B2-90C61FA59DD9}"/>
              </a:ext>
            </a:extLst>
          </p:cNvPr>
          <p:cNvPicPr>
            <a:picLocks noChangeAspect="1"/>
          </p:cNvPicPr>
          <p:nvPr/>
        </p:nvPicPr>
        <p:blipFill>
          <a:blip r:embed="rId2"/>
          <a:srcRect l="15373" r="39233" b="-3"/>
          <a:stretch>
            <a:fillRect/>
          </a:stretch>
        </p:blipFill>
        <p:spPr>
          <a:xfrm>
            <a:off x="7521283" y="10"/>
            <a:ext cx="4670717" cy="6857990"/>
          </a:xfrm>
          <a:prstGeom prst="rect">
            <a:avLst/>
          </a:prstGeom>
        </p:spPr>
      </p:pic>
    </p:spTree>
    <p:extLst>
      <p:ext uri="{BB962C8B-B14F-4D97-AF65-F5344CB8AC3E}">
        <p14:creationId xmlns:p14="http://schemas.microsoft.com/office/powerpoint/2010/main" val="865202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04BED40-EAF7-4E55-AFF7-2CD840EBD3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581193" y="702156"/>
            <a:ext cx="6309003" cy="1013800"/>
          </a:xfrm>
        </p:spPr>
        <p:txBody>
          <a:bodyPr>
            <a:normAutofit/>
          </a:bodyPr>
          <a:lstStyle/>
          <a:p>
            <a:r>
              <a:rPr lang="en-GB" dirty="0">
                <a:solidFill>
                  <a:schemeClr val="tx2"/>
                </a:solidFill>
              </a:rPr>
              <a:t>Methodology </a:t>
            </a:r>
          </a:p>
        </p:txBody>
      </p:sp>
      <p:sp>
        <p:nvSpPr>
          <p:cNvPr id="12" name="Rectangle 11">
            <a:extLst>
              <a:ext uri="{FF2B5EF4-FFF2-40B4-BE49-F238E27FC236}">
                <a16:creationId xmlns:a16="http://schemas.microsoft.com/office/drawing/2014/main" id="{F367CCF1-BB1E-41CF-8499-94A870C33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66751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p:cNvSpPr>
            <a:spLocks noGrp="1"/>
          </p:cNvSpPr>
          <p:nvPr>
            <p:ph idx="1"/>
          </p:nvPr>
        </p:nvSpPr>
        <p:spPr>
          <a:xfrm>
            <a:off x="581194" y="1896533"/>
            <a:ext cx="6309003" cy="3962266"/>
          </a:xfrm>
        </p:spPr>
        <p:txBody>
          <a:bodyPr>
            <a:normAutofit/>
          </a:bodyPr>
          <a:lstStyle/>
          <a:p>
            <a:pPr marL="0" indent="0">
              <a:buNone/>
            </a:pPr>
            <a:r>
              <a:rPr lang="en-GB" dirty="0">
                <a:solidFill>
                  <a:schemeClr val="tx2"/>
                </a:solidFill>
              </a:rPr>
              <a:t>The methods use to create this project are:-</a:t>
            </a:r>
          </a:p>
          <a:p>
            <a:r>
              <a:rPr lang="en-GB" dirty="0">
                <a:solidFill>
                  <a:schemeClr val="tx2"/>
                </a:solidFill>
              </a:rPr>
              <a:t>1. </a:t>
            </a:r>
            <a:r>
              <a:rPr lang="en-GB" dirty="0" err="1">
                <a:solidFill>
                  <a:schemeClr val="tx2"/>
                </a:solidFill>
              </a:rPr>
              <a:t>php</a:t>
            </a:r>
            <a:r>
              <a:rPr lang="en-GB" dirty="0">
                <a:solidFill>
                  <a:schemeClr val="tx2"/>
                </a:solidFill>
              </a:rPr>
              <a:t>(Hypertext </a:t>
            </a:r>
            <a:r>
              <a:rPr lang="en-GB" dirty="0" err="1">
                <a:solidFill>
                  <a:schemeClr val="tx2"/>
                </a:solidFill>
              </a:rPr>
              <a:t>preprocessor</a:t>
            </a:r>
            <a:r>
              <a:rPr lang="en-GB" dirty="0">
                <a:solidFill>
                  <a:schemeClr val="tx2"/>
                </a:solidFill>
              </a:rPr>
              <a:t> ).</a:t>
            </a:r>
          </a:p>
          <a:p>
            <a:r>
              <a:rPr lang="en-GB" dirty="0">
                <a:solidFill>
                  <a:schemeClr val="tx2"/>
                </a:solidFill>
              </a:rPr>
              <a:t>HTML (Hypertext </a:t>
            </a:r>
            <a:r>
              <a:rPr lang="en-GB" dirty="0" err="1">
                <a:solidFill>
                  <a:schemeClr val="tx2"/>
                </a:solidFill>
              </a:rPr>
              <a:t>Markup</a:t>
            </a:r>
            <a:r>
              <a:rPr lang="en-GB" dirty="0">
                <a:solidFill>
                  <a:schemeClr val="tx2"/>
                </a:solidFill>
              </a:rPr>
              <a:t> Language).</a:t>
            </a:r>
          </a:p>
          <a:p>
            <a:r>
              <a:rPr lang="en-GB" dirty="0">
                <a:solidFill>
                  <a:schemeClr val="tx2"/>
                </a:solidFill>
              </a:rPr>
              <a:t>CSS (Cascading Style Sheets).</a:t>
            </a:r>
          </a:p>
          <a:p>
            <a:r>
              <a:rPr lang="en-GB" dirty="0">
                <a:solidFill>
                  <a:schemeClr val="tx2"/>
                </a:solidFill>
              </a:rPr>
              <a:t>VS-code is platform where all this language got integrated into code .</a:t>
            </a:r>
          </a:p>
          <a:p>
            <a:r>
              <a:rPr lang="en-GB" dirty="0">
                <a:solidFill>
                  <a:schemeClr val="tx2"/>
                </a:solidFill>
              </a:rPr>
              <a:t>AI engines like chat gpt-5, Gemini, Google search have been handy to create this project.</a:t>
            </a:r>
          </a:p>
        </p:txBody>
      </p:sp>
      <p:pic>
        <p:nvPicPr>
          <p:cNvPr id="6" name="Picture 5" descr="Pen placed on top of a signature line">
            <a:extLst>
              <a:ext uri="{FF2B5EF4-FFF2-40B4-BE49-F238E27FC236}">
                <a16:creationId xmlns:a16="http://schemas.microsoft.com/office/drawing/2014/main" id="{7B5A4475-9DB3-752E-2265-461DA3E69C10}"/>
              </a:ext>
            </a:extLst>
          </p:cNvPr>
          <p:cNvPicPr>
            <a:picLocks noChangeAspect="1"/>
          </p:cNvPicPr>
          <p:nvPr/>
        </p:nvPicPr>
        <p:blipFill>
          <a:blip r:embed="rId2"/>
          <a:srcRect l="53286" r="1319" b="-3"/>
          <a:stretch>
            <a:fillRect/>
          </a:stretch>
        </p:blipFill>
        <p:spPr>
          <a:xfrm>
            <a:off x="7521283" y="10"/>
            <a:ext cx="4670717" cy="6857990"/>
          </a:xfrm>
          <a:prstGeom prst="rect">
            <a:avLst/>
          </a:prstGeom>
        </p:spPr>
      </p:pic>
    </p:spTree>
    <p:extLst>
      <p:ext uri="{BB962C8B-B14F-4D97-AF65-F5344CB8AC3E}">
        <p14:creationId xmlns:p14="http://schemas.microsoft.com/office/powerpoint/2010/main" val="38018198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p:cNvSpPr>
            <a:spLocks noGrp="1"/>
          </p:cNvSpPr>
          <p:nvPr>
            <p:ph type="ctrTitle"/>
          </p:nvPr>
        </p:nvSpPr>
        <p:spPr>
          <a:xfrm>
            <a:off x="609906" y="702155"/>
            <a:ext cx="3568661" cy="1269713"/>
          </a:xfrm>
        </p:spPr>
        <p:txBody>
          <a:bodyPr>
            <a:normAutofit/>
          </a:bodyPr>
          <a:lstStyle/>
          <a:p>
            <a:r>
              <a:rPr lang="en-GB"/>
              <a:t>Interesting fact </a:t>
            </a:r>
            <a:endParaRPr lang="en-GB" dirty="0"/>
          </a:p>
        </p:txBody>
      </p:sp>
      <p:sp>
        <p:nvSpPr>
          <p:cNvPr id="13" name="Rectangle 12">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4" name="Content Placeholder 3">
            <a:extLst>
              <a:ext uri="{FF2B5EF4-FFF2-40B4-BE49-F238E27FC236}">
                <a16:creationId xmlns:a16="http://schemas.microsoft.com/office/drawing/2014/main" id="{D7D8869C-8066-3DF3-1D5B-9D9834EF072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258897" y="702155"/>
            <a:ext cx="4788795" cy="3176340"/>
          </a:xfrm>
          <a:prstGeom prst="rect">
            <a:avLst/>
          </a:prstGeom>
          <a:ln w="38100" cap="sq">
            <a:solidFill>
              <a:srgbClr val="000000"/>
            </a:solidFill>
            <a:prstDash val="solid"/>
            <a:miter lim="800000"/>
          </a:ln>
          <a:effectLst>
            <a:outerShdw blurRad="50800" dist="38100" dir="2700000" algn="tl" rotWithShape="0">
              <a:srgbClr val="000000">
                <a:alpha val="43000"/>
              </a:srgbClr>
            </a:outerShdw>
            <a:reflection blurRad="6350" stA="50000" endA="300" endPos="90000" dist="50800" dir="5400000" sy="-100000" algn="bl" rotWithShape="0"/>
          </a:effectLst>
        </p:spPr>
      </p:pic>
      <p:sp>
        <p:nvSpPr>
          <p:cNvPr id="6" name="TextBox 5">
            <a:extLst>
              <a:ext uri="{FF2B5EF4-FFF2-40B4-BE49-F238E27FC236}">
                <a16:creationId xmlns:a16="http://schemas.microsoft.com/office/drawing/2014/main" id="{E1129E72-4F08-56AA-36C7-FBE026D56891}"/>
              </a:ext>
            </a:extLst>
          </p:cNvPr>
          <p:cNvSpPr txBox="1"/>
          <p:nvPr/>
        </p:nvSpPr>
        <p:spPr>
          <a:xfrm>
            <a:off x="1213787" y="3083598"/>
            <a:ext cx="5872132" cy="2031325"/>
          </a:xfrm>
          <a:prstGeom prst="rect">
            <a:avLst/>
          </a:prstGeom>
          <a:noFill/>
        </p:spPr>
        <p:txBody>
          <a:bodyPr wrap="square" rtlCol="0">
            <a:spAutoFit/>
          </a:bodyPr>
          <a:lstStyle/>
          <a:p>
            <a:pPr marL="285750" indent="-285750" algn="l">
              <a:buFont typeface="Arial" panose="020B0604020202020204" pitchFamily="34" charset="0"/>
              <a:buChar char="•"/>
            </a:pPr>
            <a:r>
              <a:rPr lang="en-US" dirty="0"/>
              <a:t>The breakthrough lies in the mealworm's astounding ability to digest plastic—a feat once deemed impossible.</a:t>
            </a:r>
            <a:endParaRPr lang="en-GB" dirty="0"/>
          </a:p>
          <a:p>
            <a:pPr marL="285750" indent="-285750" algn="l">
              <a:buFont typeface="Arial" panose="020B0604020202020204" pitchFamily="34" charset="0"/>
              <a:buChar char="•"/>
            </a:pPr>
            <a:r>
              <a:rPr lang="en-GB" dirty="0"/>
              <a:t>This discovery offers a glimmer of hope in the battle against plastic pollution, potentially providing a key to mitigating a worldwide environmental disaster.</a:t>
            </a:r>
          </a:p>
          <a:p>
            <a:pPr marL="285750" indent="-285750" algn="l">
              <a:buFont typeface="Arial" panose="020B0604020202020204" pitchFamily="34" charset="0"/>
              <a:buChar char="•"/>
            </a:pPr>
            <a:endParaRPr lang="en-US" dirty="0"/>
          </a:p>
        </p:txBody>
      </p:sp>
    </p:spTree>
    <p:extLst>
      <p:ext uri="{BB962C8B-B14F-4D97-AF65-F5344CB8AC3E}">
        <p14:creationId xmlns:p14="http://schemas.microsoft.com/office/powerpoint/2010/main" val="1317896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04BED40-EAF7-4E55-AFF7-2CD840EBD3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581193" y="702156"/>
            <a:ext cx="6309003" cy="2137596"/>
          </a:xfrm>
        </p:spPr>
        <p:txBody>
          <a:bodyPr>
            <a:normAutofit/>
          </a:bodyPr>
          <a:lstStyle/>
          <a:p>
            <a:r>
              <a:rPr lang="en-GB">
                <a:solidFill>
                  <a:schemeClr val="tx2"/>
                </a:solidFill>
              </a:rPr>
              <a:t>Thank you </a:t>
            </a:r>
          </a:p>
        </p:txBody>
      </p:sp>
      <p:sp>
        <p:nvSpPr>
          <p:cNvPr id="12" name="Rectangle 11">
            <a:extLst>
              <a:ext uri="{FF2B5EF4-FFF2-40B4-BE49-F238E27FC236}">
                <a16:creationId xmlns:a16="http://schemas.microsoft.com/office/drawing/2014/main" id="{F367CCF1-BB1E-41CF-8499-94A870C33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66751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p:cNvSpPr>
            <a:spLocks noGrp="1"/>
          </p:cNvSpPr>
          <p:nvPr>
            <p:ph idx="1"/>
          </p:nvPr>
        </p:nvSpPr>
        <p:spPr>
          <a:xfrm>
            <a:off x="581194" y="1896533"/>
            <a:ext cx="6309003" cy="3962266"/>
          </a:xfrm>
        </p:spPr>
        <p:txBody>
          <a:bodyPr>
            <a:normAutofit/>
          </a:bodyPr>
          <a:lstStyle/>
          <a:p>
            <a:endParaRPr lang="en-GB">
              <a:solidFill>
                <a:schemeClr val="tx2"/>
              </a:solidFill>
            </a:endParaRPr>
          </a:p>
        </p:txBody>
      </p:sp>
      <p:pic>
        <p:nvPicPr>
          <p:cNvPr id="6" name="Picture 5" descr="Aerial view of a highway near the ocean">
            <a:extLst>
              <a:ext uri="{FF2B5EF4-FFF2-40B4-BE49-F238E27FC236}">
                <a16:creationId xmlns:a16="http://schemas.microsoft.com/office/drawing/2014/main" id="{F1327C63-F949-9342-2F38-78655BD2F6EB}"/>
              </a:ext>
            </a:extLst>
          </p:cNvPr>
          <p:cNvPicPr>
            <a:picLocks noChangeAspect="1"/>
          </p:cNvPicPr>
          <p:nvPr/>
        </p:nvPicPr>
        <p:blipFill>
          <a:blip r:embed="rId2"/>
          <a:srcRect l="30335" r="18622" b="6"/>
          <a:stretch>
            <a:fillRect/>
          </a:stretch>
        </p:blipFill>
        <p:spPr>
          <a:xfrm>
            <a:off x="7521283" y="10"/>
            <a:ext cx="4670717" cy="6857990"/>
          </a:xfrm>
          <a:prstGeom prst="rect">
            <a:avLst/>
          </a:prstGeom>
        </p:spPr>
      </p:pic>
    </p:spTree>
    <p:extLst>
      <p:ext uri="{BB962C8B-B14F-4D97-AF65-F5344CB8AC3E}">
        <p14:creationId xmlns:p14="http://schemas.microsoft.com/office/powerpoint/2010/main" val="3777666211"/>
      </p:ext>
    </p:extLst>
  </p:cSld>
  <p:clrMapOvr>
    <a:masterClrMapping/>
  </p:clrMapOvr>
</p:sld>
</file>

<file path=ppt/theme/theme1.xml><?xml version="1.0" encoding="utf-8"?>
<a:theme xmlns:a="http://schemas.openxmlformats.org/drawingml/2006/main" name="DividendVTI">
  <a:themeElements>
    <a:clrScheme name="DividendVTI">
      <a:dk1>
        <a:sysClr val="windowText" lastClr="000000"/>
      </a:dk1>
      <a:lt1>
        <a:sysClr val="window" lastClr="FFFFFF"/>
      </a:lt1>
      <a:dk2>
        <a:srgbClr val="3D3D3D"/>
      </a:dk2>
      <a:lt2>
        <a:srgbClr val="EBEBEB"/>
      </a:lt2>
      <a:accent1>
        <a:srgbClr val="ED8428"/>
      </a:accent1>
      <a:accent2>
        <a:srgbClr val="E6C46D"/>
      </a:accent2>
      <a:accent3>
        <a:srgbClr val="537685"/>
      </a:accent3>
      <a:accent4>
        <a:srgbClr val="969FA7"/>
      </a:accent4>
      <a:accent5>
        <a:srgbClr val="A9C37C"/>
      </a:accent5>
      <a:accent6>
        <a:srgbClr val="5A8071"/>
      </a:accent6>
      <a:hlink>
        <a:srgbClr val="828282"/>
      </a:hlink>
      <a:folHlink>
        <a:srgbClr val="A5A5A5"/>
      </a:folHlink>
    </a:clrScheme>
    <a:fontScheme name="Dividend">
      <a:majorFont>
        <a:latin typeface="Arial Nova Ligh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ova Ligh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docProps/app.xml><?xml version="1.0" encoding="utf-8"?>
<Properties xmlns="http://schemas.openxmlformats.org/officeDocument/2006/extended-properties" xmlns:vt="http://schemas.openxmlformats.org/officeDocument/2006/docPropsVTypes">
  <TotalTime>32</TotalTime>
  <Words>513</Words>
  <Application>Microsoft Office PowerPoint</Application>
  <PresentationFormat>Widescreen</PresentationFormat>
  <Paragraphs>31</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Arial Nova Light</vt:lpstr>
      <vt:lpstr>Wingdings 2</vt:lpstr>
      <vt:lpstr>DividendVTI</vt:lpstr>
      <vt:lpstr>Smart waste </vt:lpstr>
      <vt:lpstr>Introduction </vt:lpstr>
      <vt:lpstr>The problem </vt:lpstr>
      <vt:lpstr>Intentions </vt:lpstr>
      <vt:lpstr>Invention </vt:lpstr>
      <vt:lpstr>Methodology </vt:lpstr>
      <vt:lpstr>Interesting fact </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Clean wise </dc:title>
  <dc:creator>919545315320</dc:creator>
  <cp:lastModifiedBy>Admin</cp:lastModifiedBy>
  <cp:revision>14</cp:revision>
  <dcterms:created xsi:type="dcterms:W3CDTF">2025-09-09T02:42:14Z</dcterms:created>
  <dcterms:modified xsi:type="dcterms:W3CDTF">2025-10-04T03:43:56Z</dcterms:modified>
</cp:coreProperties>
</file>